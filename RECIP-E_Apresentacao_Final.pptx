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Restaurante do Chefe Remy</a:t>
            </a:r>
          </a:p>
          <a:p>
            <a:pPr>
              <a:spcBef>
                <a:spcPts val="600"/>
              </a:spcBef>
            </a:pPr>
            <a:r>
              <a:rPr sz="2400">
                <a:solidFill>
                  <a:srgbClr val="E87A3D"/>
                </a:solidFill>
                <a:latin typeface="Calibri"/>
              </a:rPr>
              <a:t>RECIP-E · DSL para Receitas de Cozinha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08960"/>
            <a:ext cx="2011680" cy="3000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>
                <a:solidFill>
                  <a:srgbClr val="E8F3EC"/>
                </a:solidFill>
                <a:latin typeface="Calibri"/>
              </a:rPr>
              <a:t>Apresentação Final · Entrega do Front-end da Linguagem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87A3D"/>
                </a:solidFill>
                <a:latin typeface="Calibri"/>
              </a:rPr>
              <a:t>Professores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André Santanchè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Wallysson Oliveira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297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87A3D"/>
                </a:solidFill>
                <a:latin typeface="Calibri"/>
              </a:rPr>
              <a:t>Alunos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João Vitor Roque Ribeiro · 258588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Felipe Pires Araujo · 186697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João Victor Santos · 250392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8F3EC"/>
                </a:solidFill>
                <a:latin typeface="Calibri"/>
              </a:rPr>
              <a:t>MC346 — Paradigmas de Programação · UNICAMP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Roteiro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O que vamos apresentar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280160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261872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De onde partimos  </a:t>
            </a:r>
            <a:r>
              <a:rPr sz="1400">
                <a:solidFill>
                  <a:srgbClr val="666666"/>
                </a:solidFill>
                <a:latin typeface="Calibri"/>
              </a:rPr>
              <a:t>— Recap da versão inicial (v1.0)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938528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202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O que decidimos mudar  </a:t>
            </a:r>
            <a:r>
              <a:rPr sz="1400">
                <a:solidFill>
                  <a:srgbClr val="666666"/>
                </a:solidFill>
                <a:latin typeface="Calibri"/>
              </a:rPr>
              <a:t>— 6 alterações estruturais na sintaxe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596896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7860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Arquitetura do front-end  </a:t>
            </a:r>
            <a:r>
              <a:rPr sz="1400">
                <a:solidFill>
                  <a:srgbClr val="666666"/>
                </a:solidFill>
                <a:latin typeface="Calibri"/>
              </a:rPr>
              <a:t>— Pipeline lexer → parser → printer → validação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55264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36976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Implementação em Scheme  </a:t>
            </a:r>
            <a:r>
              <a:rPr sz="1400">
                <a:solidFill>
                  <a:srgbClr val="666666"/>
                </a:solidFill>
                <a:latin typeface="Calibri"/>
              </a:rPr>
              <a:t>— Escolhas técnicas, indentação, AST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913632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95344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Validação estática  </a:t>
            </a:r>
            <a:r>
              <a:rPr sz="1400">
                <a:solidFill>
                  <a:srgbClr val="666666"/>
                </a:solidFill>
                <a:latin typeface="Calibri"/>
              </a:rPr>
              <a:t>— 5 códigos de aviso implementados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572000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553712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Demonstração  </a:t>
            </a:r>
            <a:r>
              <a:rPr sz="1400">
                <a:solidFill>
                  <a:srgbClr val="666666"/>
                </a:solidFill>
                <a:latin typeface="Calibri"/>
              </a:rPr>
              <a:t>— Omelete + casos com aviso + Restart &amp; Run 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230368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12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Paradigmas · macros vs. parser  </a:t>
            </a:r>
            <a:r>
              <a:rPr sz="1400">
                <a:solidFill>
                  <a:srgbClr val="666666"/>
                </a:solidFill>
                <a:latin typeface="Calibri"/>
              </a:rPr>
              <a:t>— Por que não usamos define-syntax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88736"/>
            <a:ext cx="502920" cy="502920"/>
          </a:xfrm>
          <a:prstGeom prst="ellipse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87044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E3D"/>
                </a:solidFill>
                <a:latin typeface="Calibri"/>
              </a:rPr>
              <a:t>Fora do escopo &amp; futuro  </a:t>
            </a:r>
            <a:r>
              <a:rPr sz="1400">
                <a:solidFill>
                  <a:srgbClr val="666666"/>
                </a:solidFill>
                <a:latin typeface="Calibri"/>
              </a:rPr>
              <a:t>— O que não foi implementado e por quê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De onde partimos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Recap da apresentação de progresso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>
                <a:solidFill>
                  <a:srgbClr val="2C2C2C"/>
                </a:solidFill>
                <a:latin typeface="Calibri"/>
              </a:rPr>
              <a:t>Na v1.0, a DSL era essencialmente uma linguagem convencional em português: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5486400" cy="2377440"/>
          </a:xfrm>
          <a:prstGeom prst="roundRect">
            <a:avLst>
              <a:gd name="adj" fmla="val 5000"/>
            </a:avLst>
          </a:prstGeom>
          <a:solidFill>
            <a:srgbClr val="FCF0F0"/>
          </a:solidFill>
          <a:ln w="15875">
            <a:solidFill>
              <a:srgbClr val="C4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5120640" cy="21579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C43E3E"/>
                </a:solidFill>
                <a:latin typeface="Calibri"/>
              </a:rPr>
              <a:t>Problemas identificados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Símbolos { }, ; e ( ) — estranhos ao público-alvo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Dois sinais de fim de linha ao mesmo tempo (; + indentação)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Sem paralelismo — receita real tem passos simultâneos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Reuso de receitas via USAR_RECEITA("X") — pouco fluente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Atribuição com = — leitura matemática, não culinária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486400" cy="2377440"/>
          </a:xfrm>
          <a:prstGeom prst="roundRect">
            <a:avLst>
              <a:gd name="adj" fmla="val 5000"/>
            </a:avLst>
          </a:prstGeom>
          <a:solidFill>
            <a:srgbClr val="E8F3EC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47088"/>
            <a:ext cx="5120640" cy="21579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Decisão do grupo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Blocos por indentação (estilo Python)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ESTE é &lt;nome&gt; substitui = como atribuição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ADICIONAR ovo, sal — sem parênteses nem vírgulas artificiais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USANDO 5 g — preposição natural em português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AO_MESMO_TEMPO como construção de primeira classe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Sub-receita via nome entre aspas em INGREDIENTES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C2C2C"/>
                </a:solidFill>
                <a:latin typeface="Calibri"/>
              </a:rPr>
              <a:t>Chamamos a variante entregue de RECIP-E/Indent. Ela cumpre o mesmo propósito da spec v1.0 (estruturar receita como programa validável), mas troca a familiaridade C-like por uma leitura mais próxima da prosa culinária. As diferenças são deliberadas e estão documentadas na seção Discussão do README.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Diferenças aplicadas · Estrutura e Atribuição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Parte 1 · v1.0  vs.  RECIP-E/Indent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1. Delimitação de blocos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164592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5120640" cy="14264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RECEITA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NOME:    "Omelete";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PORCOES: 2;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INGREDIENTES {  2 unidade ovo; 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486400" cy="164592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5120640" cy="14264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RECEITA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NOME: "Omelete"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PORCOES: 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INGREDIENTES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2 unidade ovo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2. Atribuição de resultado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5486400" cy="109728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21608"/>
            <a:ext cx="5120640" cy="8778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mistura = MISTURAR(ovo, sal)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     EM tigela COM garfo;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11880"/>
            <a:ext cx="5486400" cy="109728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21608"/>
            <a:ext cx="5120640" cy="8778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MISTURAR ovo, sal EM tigela COM garfo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ESTE é MISTURA01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3. Chamada de verbo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5486400" cy="82296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21808"/>
            <a:ext cx="5120640" cy="6035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ADICIONAR(ovo, sal) EM tigela;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5212080"/>
            <a:ext cx="5486400" cy="82296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321808"/>
            <a:ext cx="5120640" cy="6035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ADICIONAR ovo, sal EM tigela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188720"/>
            <a:ext cx="109728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1">
                <a:solidFill>
                  <a:srgbClr val="C43E3E"/>
                </a:solidFill>
                <a:latin typeface="Calibri"/>
              </a:rPr>
              <a:t>ANTES (v1.0)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188720"/>
            <a:ext cx="128016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1">
                <a:solidFill>
                  <a:srgbClr val="2E7D5C"/>
                </a:solidFill>
                <a:latin typeface="Calibri"/>
              </a:rPr>
              <a:t>DEPOIS (Indent)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Diferenças aplicadas · Medidas, Paralelismo e Sub-receitas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Parte 2 · v1.0  vs.  RECIP-E/Indent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4. Especificação de medida no passo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5120640" cy="6949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ADICIONAR(sal COM MEDIDA 5 G) EM tigela;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5120640" cy="6949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ADICIONAR sal USANDO 5 g EM tigela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5. Paralelismo — construção nova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5486400" cy="137160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90088"/>
            <a:ext cx="5120640" cy="11521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// não existia na v1.0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// processos simultâneos ficavam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// implícitos no 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80360"/>
            <a:ext cx="5486400" cy="137160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990088"/>
            <a:ext cx="5120640" cy="11521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AO_MESMO_TEMPO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ADICIONAR oleo EM frigideira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AGUARDAR 1 MINUTOS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87A3D"/>
                </a:solidFill>
                <a:latin typeface="Calibri"/>
              </a:rPr>
              <a:t>6. Sub-receita como ingrediente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00600"/>
            <a:ext cx="5486400" cy="109728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5120640" cy="8778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molho = USAR_RECEITA("Bechamel");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ADICIONAR(molho) EM assadeira;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800600"/>
            <a:ext cx="5486400" cy="109728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910328"/>
            <a:ext cx="5120640" cy="8778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INGREDIENTES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1 unidade "Bechamel"     // sub-receita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188720"/>
            <a:ext cx="109728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1">
                <a:solidFill>
                  <a:srgbClr val="C43E3E"/>
                </a:solidFill>
                <a:latin typeface="Calibri"/>
              </a:rPr>
              <a:t>ANTES (v1.0)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188720"/>
            <a:ext cx="128016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1">
                <a:solidFill>
                  <a:srgbClr val="2E7D5C"/>
                </a:solidFill>
                <a:latin typeface="Calibri"/>
              </a:rPr>
              <a:t>DEPOIS (Indent)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Arquitetura do front-end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Um pipeline linear em 4 estágios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8027" y="2377440"/>
            <a:ext cx="24688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800" b="1">
                <a:solidFill>
                  <a:srgbClr val="1F4E3D"/>
                </a:solidFill>
                <a:latin typeface="Calibri"/>
              </a:rPr>
              <a:t>Lexer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texto → tokens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(inclui NEWLINE / INDENT / DEDENT)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5195" y="3017520"/>
            <a:ext cx="283464" cy="274320"/>
          </a:xfrm>
          <a:prstGeom prst="rightArrow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66947" y="2377440"/>
            <a:ext cx="24688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800" b="1">
                <a:solidFill>
                  <a:srgbClr val="1F4E3D"/>
                </a:solidFill>
                <a:latin typeface="Calibri"/>
              </a:rPr>
              <a:t>Parser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tokens → AST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(listas com tag)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54115" y="3017520"/>
            <a:ext cx="283464" cy="274320"/>
          </a:xfrm>
          <a:prstGeom prst="rightArrow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5867" y="2377440"/>
            <a:ext cx="24688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800" b="1">
                <a:solidFill>
                  <a:srgbClr val="1F4E3D"/>
                </a:solidFill>
                <a:latin typeface="Calibri"/>
              </a:rPr>
              <a:t>Printer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AST → árvore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legível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43035" y="3017520"/>
            <a:ext cx="283464" cy="274320"/>
          </a:xfrm>
          <a:prstGeom prst="rightArrow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44787" y="2377440"/>
            <a:ext cx="24688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800" b="1">
                <a:solidFill>
                  <a:srgbClr val="1F4E3D"/>
                </a:solidFill>
                <a:latin typeface="Calibri"/>
              </a:rPr>
              <a:t>Validador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AST → lista de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666666"/>
                </a:solidFill>
                <a:latin typeface="Calibri"/>
              </a:rPr>
              <a:t>issues (avisos)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Fonte  ➜  omelete.recipe  (texto puro em RECIP-E/Indent)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Saída  ➜  AST impressa  +  relatório de validação estática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029200"/>
            <a:ext cx="10332720" cy="12801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38928"/>
            <a:ext cx="9966960" cy="10607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Decisão de arquitetura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Front-end apenas — sem runtime de execução culinária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Toda checagem é estática (analisa a AST, não simula cozinha)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Notebook único (Calysto Scheme, Jupyter): tudo em ordem de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Lexer · Estágio 1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Texto → lista de tokens (com indentação sintética)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Categorias de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Calibri"/>
              </a:rPr>
              <a:t>NUMBER, STRING, IDENT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41732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literais e identificadores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Calibri"/>
              </a:rPr>
              <a:t>KEYWORD, VERB, UNIT, PREP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73736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vocabulário fixo da linguagem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Calibri"/>
              </a:rPr>
              <a:t>PONT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05740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vírgula e dois-pontos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Calibri"/>
              </a:rPr>
              <a:t>NEWLINE, INDENT, DEDENT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377440"/>
            <a:ext cx="310896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estrutura sintética (indentação)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10128"/>
            <a:ext cx="5120640" cy="20665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Motor de indentação (pilha de níveis)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Recuo maior que o topo  →  emite INDENT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Recuo menor  →  emite um DEDENT por nível fechado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Recuo igual  →  nada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Fim de linha com conteúdo  →  NEWLINE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Linhas em branco ou só-comentário são ignoradas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EOF fecha todos os níveis pendentes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0515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Exemplo: entrada + saída de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486400" cy="155448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527048"/>
            <a:ext cx="5120640" cy="13350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METODOS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ADICIONAR ovo EM tigela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AO_MESMO_TEMPO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    ADICIONAR oleo EM frigideira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154680"/>
            <a:ext cx="5486400" cy="310896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264408"/>
            <a:ext cx="5120640" cy="28895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KEYWORD METODOS · NEWLINE · INDENT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VERB ADICIONAR · IDENT ovo · PREP EM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IDENT tigela · NEWLINE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KEYWORD AO_MESMO_TEMPO · NEWLINE · INDENT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VERB ADICIONAR · IDENT oleo · PREP EM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IDENT frigideira · NEWLINE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DEDENT · DEDENT · &lt;EOF&gt;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Parser · Estágio 2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Descendente-recursivo · Tokens → AST (listas com tag)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Nós da 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420624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5120640" cy="39867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(programa &lt;receita|#f&gt; &lt;ings&gt; &lt;uts&gt; &lt;mets&gt;)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(receita        ((campo NOME "..") ...))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(ingredientes   (&lt;ingrediente&gt; ...))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(utensilios     (&lt;utensilio&gt; ...))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(metodos        (&lt;instrucao&gt; ...))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(ingrediente    qty unidade nome sub-receita?)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(utensilio      qty nome)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(verb-cmd       verbo args em com a por ate estilo)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(arg            nome usando-qty usando-unidade)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(este-e         nome)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(aguardar       qty unidade-tempo)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(verificar      alvo estado then-instrs senao-instrs|#f)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(ao-mesmo-tempo &lt;ramo&gt; ...)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5120640" cy="16093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Cursor de tokens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Closure com set! (sem set-car!, irregular no Calysto)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peek / advance / at? / at-kw? / at-prep?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Erros com linha do token: token inesperado ...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skip-newlines entre blocos para tolerar espaços em branco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3756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447288"/>
            <a:ext cx="5120640" cy="20665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Dispatcher de instrução (METODOS)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VERB       →  parse-cmd-verbo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KEYWORD ESTE           →  parse-este-e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KEYWORD AGUARDAR       →  parse-aguardar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KEYWORD VERIFICAR      →  parse-verificar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KEYWORD AO_MESMO_TEMPO →  parse-ao-mesmo-tempo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KEYWORD CONTINUAR      →  (continuar)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Pretty-printer · Estágio 3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AST → representação legível para conferência humana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Estratégia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5120640" cy="38953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Recursão por tag do nó — despacho simples com cond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Indentação por profundidade (2 espaços por nível)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Campos ausentes (#f) omitidos — verb-cmd só mostra o que tem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Blocos AO_MESMO_TEMPO exibem cada ramo numerado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VERIFICAR mostra bloco then e opcionalmente SENAO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Serve como debug visual + documentação viva do 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515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Saída (fragmento do Omelete)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484632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27048"/>
            <a:ext cx="5120640" cy="46268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PROGRAMA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RECEITA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NOME = "OmeleteComQueijo"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PORCOES =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INGREDIENTES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2 unidade ovo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20 g sal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1 unidade &lt;sub&gt; RecheioDeQueijo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UTENSILIOS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1 frigideira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METODOS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ADICIONAR ovo, sal USANDO 5 g EM tigela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MISTURAR ovo, pimenta_do_reino USANDO 2 g EM tigela COM garfo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ESTE é MISTURA01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AO_MESMO_TEMPO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ramo 1: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ADICIONAR oleo EM frigideira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ramo 2: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AGUARDAR 1 MINUTOS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Validação estática · Estágio 4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5 códigos de aviso · toda checagem sobre a AST, sem execução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C4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UNDECLARED_INGREDIENT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243584"/>
            <a:ext cx="731520" cy="320040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ERRO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234440"/>
            <a:ext cx="78638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arg em verb-cmd usa nome não declarado em INGREDIENTES nem criado por ESTE 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C4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UNDECLARED_UTENSIL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929384"/>
            <a:ext cx="731520" cy="320040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ERRO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920240"/>
            <a:ext cx="78638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cláusula EM / COM referencia utensílio não declarado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E39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OVERUSE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615184"/>
            <a:ext cx="731520" cy="320040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AVISO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606040"/>
            <a:ext cx="78638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soma dos USANDO de um ingrediente ultrapassa o estoque declarado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E39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UTENSIL_CONFLICT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3300984"/>
            <a:ext cx="731520" cy="320040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AVISO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291840"/>
            <a:ext cx="78638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dois ramos de AO_MESMO_TEMPO referenciam o mesmo utensílio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E39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UNRESOLVED_SUBRECIPE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3986784"/>
            <a:ext cx="731520" cy="320040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AVISO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77640"/>
            <a:ext cx="78638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sub-receita (nome entre aspas) declarada mas nunca usada nos métodos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37760"/>
            <a:ext cx="11247120" cy="13716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047488"/>
            <a:ext cx="10881360" cy="11521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Detalhes de implementação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Tabela de símbolos = assoc-list (hash-tables têm suporte irregular no Calysto)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filter foi reescrito em Scheme puro (my-filter) — o filter nativo devolve objeto Python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OVERUSE só compara USANDO na MESMA unidade do estoque (não converte g ↔ kg)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UTENSIL_CONFLICT gera pares (i, j) dos ramos e intersecta os conjuntos de utensílios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Demonstração · Omelete com Queijo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Exemplo canônico — exercita todas as construções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6858000" cy="512064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6492240" cy="49011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RECEITA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NOME: "OmeleteComQueijo"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PORCOES: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NIVEL: FACIL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INGREDIENTES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2 unidade ovo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20 g sal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5 g pimenta_do_reino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1 colher oleo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1 unidade "RecheioDeQueijo"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UTENSILIOS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1 frigideira · 1 garfo · 1 tigela · 1 prato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METODOS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ADICIONAR ovo, sal USANDO 5 g EM tigela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MISTURAR ovo, pimenta_do_reino USANDO 2 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     EM tigela COM garfo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ESTE é MISTURA01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AO_MESMO_TEMPO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ADICIONAR oleo EM frigideira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AGUARDAR 1 MINUTOS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ASSAR MISTURA01 EM frigideira A FOGO_MEDIO ATE FIRMAR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VERIFICAR SE MISTURA01 ESTA FIRME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CONTINUAR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SENAO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    ASSAR MISTURA01 EM frigideira POR 2 MINUTOS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E6E6E6"/>
                </a:solidFill>
                <a:latin typeface="Consolas"/>
              </a:rPr>
              <a:t>    COLOCAR MISTURA01 EM prato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097280"/>
            <a:ext cx="4206240" cy="347472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207008"/>
            <a:ext cx="3840480" cy="32552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Construções exercitadas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Metadados de RECEITA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INGREDIENTES + sub-receita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UTENSILIOS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cmd-verbo com USANDO por argumento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Todos os parâmetros: EM · COM · A · POR · 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ESTE é (atribuição)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AO_MESMO_TEMPO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VERIFICAR SE / CONTINUAR / SENAO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AGUARDAR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4709160"/>
            <a:ext cx="4206240" cy="1554480"/>
          </a:xfrm>
          <a:prstGeom prst="roundRect">
            <a:avLst>
              <a:gd name="adj" fmla="val 5000"/>
            </a:avLst>
          </a:prstGeom>
          <a:solidFill>
            <a:srgbClr val="E8F3EC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818888"/>
            <a:ext cx="3840480" cy="13350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Saída esperada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AST completa (impressa pelo printer)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Relatório:  OK — Nenhum aviso.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Receita validada com sucesso.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Demonstração · Validação dispara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Dois exemplos que provocam avisos específicos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39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OVERUSE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219456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5120640" cy="19751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INGREDIENTES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20 g sal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2 unidade ovo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UTENSILIOS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1 tigela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METODOS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ADICIONAR ovo, sal USANDO 50 g EM tigela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7E6"/>
          </a:solidFill>
          <a:ln w="15875">
            <a:solidFill>
              <a:srgbClr val="E39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33088"/>
            <a:ext cx="5120640" cy="19751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E39E2D"/>
                </a:solidFill>
                <a:latin typeface="Calibri"/>
              </a:rPr>
              <a:t>Relatório esperado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Relatorio (1 avisos):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[AVISO ] OVERUSE: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  ingrediente 'sal': uso total 50 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  excede estoque 20 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9728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E39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UTENSIL_CONFLICT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91640"/>
            <a:ext cx="5486400" cy="2194560"/>
          </a:xfrm>
          <a:prstGeom prst="roundRect">
            <a:avLst>
              <a:gd name="adj" fmla="val 3000"/>
            </a:avLst>
          </a:prstGeom>
          <a:solidFill>
            <a:srgbClr val="0F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01368"/>
            <a:ext cx="5120640" cy="19751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INGREDIENTES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1 unidade ovo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1 colher oleo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UTENSILIOS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1 frigideira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METODOS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AO_MESMO_TEMPO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    ADICIONAR ovo EM frigideira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6E6E6"/>
                </a:solidFill>
                <a:latin typeface="Consolas"/>
              </a:rPr>
              <a:t>        ADICIONAR oleo EM frigideira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2336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7E6"/>
          </a:solidFill>
          <a:ln w="15875">
            <a:solidFill>
              <a:srgbClr val="E39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33088"/>
            <a:ext cx="5120640" cy="19751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E39E2D"/>
                </a:solidFill>
                <a:latin typeface="Calibri"/>
              </a:rPr>
              <a:t>Relatório esperado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Relatorio (1 avisos):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[AVISO ] UTENSIL_CONFLICT: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  utensilio 'frigideira' usado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    em ramos paralelos de AO_MESMO_TEMPO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Paradigmas · Por que parser explícito e não macros?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Escolha de design vs. o material da disciplina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C2C2C"/>
                </a:solidFill>
                <a:latin typeface="Calibri"/>
              </a:rPr>
              <a:t>A aula destacou define-syntax como o mecanismo canônico de DSL em Scheme. Optamos por parser recursivo-descendente próprio — três razões: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E8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DSL externa, não embebida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74520"/>
            <a:ext cx="72237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Calibri"/>
              </a:rPr>
              <a:t>RECIP-E é um arquivo .recipe autônomo, não uma sintaxe interna dentro de programa Scheme. Macros expandem em tempo de compilação Scheme — não ajudam a ler tokens de um arquivo externo.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E8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Palavras multi-token com espaço e acento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834640"/>
            <a:ext cx="72237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Calibri"/>
              </a:rPr>
              <a:t>"ESTE é", "AO_MESMO_TEMPO", "A 180 GRAUS", "VERIFICAR SE" não sobrevivem ao leitor padrão de S-expressions. Precisaríamos de um pré-lexer antes da macro — que é exatamente o pipeline que construímos.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4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E8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Avisos precisam de linha/coluna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794760"/>
            <a:ext cx="72237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Calibri"/>
              </a:rPr>
              <a:t>Relatórios como "ingrediente 'ovo' não declarado (linha 12)" exigem preservar posição em cada token. Macros descartam essa informação durante a expansão.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247120" cy="14630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56048"/>
            <a:ext cx="10881360" cy="12435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O que sim usamos do arsenal funcional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Closures: cursor de tokens com set! interno, dispatch de tabela via função retornada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Funções de ordem superior: map, for-each, my-filter, visitors recursivos na AST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Estruturas imutáveis tageadas: (verb-cmd ...), (ao-mesmo-tempo ...) — pattern matching por 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Restart &amp; Run All · Execução real no Calysto Scheme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16 células de teste · 0 erros · pipeline limpo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start_ru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097280"/>
            <a:ext cx="1097280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Comando: jupyter nbconvert --to notebook --execute RECIP-E.ipynb   ·   kernel: calysto_scheme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Fora do escopo desta versão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O que não foi implementado — e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Construções da spec v1.0 deliberadamente não implementadas: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REPETIR N VEZES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554480"/>
            <a:ext cx="850392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Loop bounded — evitaria expandir o dispatcher e o printer numa semana já apertada.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ATE &lt;condição&gt; (loop)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03120"/>
            <a:ext cx="850392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Presente só como parâmetro de cmd-verbo; o loop condicional completo fica de fora.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0604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EM_PONTO_DE &lt;estado&gt;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51760"/>
            <a:ext cx="850392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Aceito no lexer como IDENT; sem semântica dedicada de ponto culinário.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@CRITICO / @OPCIONAL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200400"/>
            <a:ext cx="850392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Anotações semânticas — exigem passo extra de validação, sem valor imediato.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Sintaxe { } ; (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749040"/>
            <a:ext cx="850392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Calibri"/>
              </a:rPr>
              <a:t>Substituída por indentação; suporte alternativo entraria como flag do lexer.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1F4E3D"/>
                </a:solidFill>
                <a:latin typeface="Calibri"/>
              </a:rPr>
              <a:t>Trabalhos futuros já mapeados no README: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11247120" cy="14630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001768"/>
            <a:ext cx="10881360" cy="12435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Runtime / avaliador que simule o passo a passo com consumo real de estoque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Geração automática: lista de compras · checklist · grafo de dependências de etapas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Plugin de editor (VSCode) com destaque de sintaxe e warnings inline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Mensagens de erro com sugestão de correção (estilo clang)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Conclusão</a:t>
            </a:r>
          </a:p>
          <a:p>
            <a:r>
              <a:rPr sz="1300">
                <a:solidFill>
                  <a:srgbClr val="E8F3EC"/>
                </a:solidFill>
                <a:latin typeface="Calibri"/>
              </a:rPr>
              <a:t>O que aprendemos ao levantar um front-end de DSL em Scheme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486400" cy="256032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5120640" cy="23408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Resultado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Pipeline completo lex → parse → print → validate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Roda no Calysto Scheme via Jupyter (Restart &amp; Run All)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5 códigos de validação estática ativos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3 exemplos integrados de ponta a ponta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Documentação: README + EBNF no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486400" cy="256032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98448"/>
            <a:ext cx="5120640" cy="23408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Lições aprendidas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Contratos antes de código — schema de token e AST fechados no Dia 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Fixtures (tokens/ASTs à mão) permitiram trabalho paralelo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Indentação com pilha simples é gerenciável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• Validação estática entrega mais valor por LOC que o resto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11247120" cy="22860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5875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10881360" cy="20665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1F4E3D"/>
                </a:solidFill>
                <a:latin typeface="Calibri"/>
              </a:rPr>
              <a:t>Diferenciais desta versão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Sintaxe fluente por indentação — leitura mais próxima de uma receita real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ESTE é como atribuição narrativa (sem = matemático)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AO_MESMO_TEMPO como construção de primeira classe — permite validação de conflito de utensílio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2C2C2C"/>
                </a:solidFill>
                <a:latin typeface="Calibri"/>
              </a:rPr>
              <a:t>→ Sub-receita declarada em INGREDIENTES (não como chamada explícita) — coerente com a metáfora de recurso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E87A3D"/>
                </a:solidFill>
                <a:latin typeface="Calibri"/>
              </a:rPr>
              <a:t>Perguntas?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8F3EC"/>
                </a:solidFill>
                <a:latin typeface="Consolas"/>
              </a:rPr>
              <a:t>github.com/joao-victor-s/RestaurantedoChefeRemy</a:t>
            </a:r>
          </a:p>
          <a:p>
            <a:r>
              <a:rPr sz="1400" i="1">
                <a:solidFill>
                  <a:srgbClr val="E8F3EC"/>
                </a:solidFill>
                <a:latin typeface="Calibri"/>
              </a:rPr>
              <a:t>RECIP-E · MC346 · UNICAMP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