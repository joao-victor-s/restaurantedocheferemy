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Calibri"/>
              </a:rPr>
              <a:t>RECIP-E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87A3D"/>
                </a:solidFill>
                <a:latin typeface="Calibri"/>
              </a:rPr>
              <a:t>DSL para receitas de cozinha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João Vitor Roque Ribeiro · 258588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Felipe Pires Araujo · 186697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João Victor Santos · 250392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8F3EC"/>
                </a:solidFill>
                <a:latin typeface="Calibri"/>
              </a:rPr>
              <a:t>MC346 · Restaurante do Chefe Remy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Ideia da linguagem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•  DSL para descrever receitas culinárias como programas estruturados.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•  Ingredientes e utensílios são recursos declarados; métodos são instruções sequenciais.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•  Separa o quê da receita (ingredientes) do como (métodos).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•  Permite validação estática antes de qualquer execução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De onde partimos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  <a:latin typeface="Calibri"/>
              </a:rPr>
              <a:t>A versão v1.0 parecia uma linguagem de programação convencional: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0F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512064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RECEITA 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NOME:    "Omelete";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PORCOES: 2;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mistura = MISTURAR(ovo, sal) EM tigela;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C43E3E"/>
                </a:solidFill>
                <a:latin typeface="Calibri"/>
              </a:rPr>
              <a:t>Problemas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•  Símbolos { } ; ( ) afastam o público-alvo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•  Sem construção para passos simultâneos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2C2C"/>
                </a:solidFill>
                <a:latin typeface="Calibri"/>
              </a:rPr>
              <a:t>•  Reuso de receita pouco fluente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 que mudamos</a:t>
            </a:r>
          </a:p>
          <a:p>
            <a:r>
              <a:rPr sz="1300">
                <a:solidFill>
                  <a:srgbClr val="E8F3EC"/>
                </a:solidFill>
                <a:latin typeface="Calibri"/>
              </a:rPr>
              <a:t>3 alterações estruturais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Blocos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4114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43E3E"/>
                </a:solidFill>
                <a:latin typeface="Calibri"/>
              </a:rPr>
              <a:t>antes:  { } e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4754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F4E3D"/>
                </a:solidFill>
                <a:latin typeface="Calibri"/>
              </a:rPr>
              <a:t>depois:  Indentação (estilo Python)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Atribuição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4114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43E3E"/>
                </a:solidFill>
                <a:latin typeface="Calibri"/>
              </a:rPr>
              <a:t>antes:  mistura = MISTURAR(...)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560320"/>
            <a:ext cx="4754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F4E3D"/>
                </a:solidFill>
                <a:latin typeface="Calibri"/>
              </a:rPr>
              <a:t>depois:  ESTE é MISTURA01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E8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Paralelismo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40480"/>
            <a:ext cx="4114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C43E3E"/>
                </a:solidFill>
                <a:latin typeface="Calibri"/>
              </a:rPr>
              <a:t>antes:  não existia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840480"/>
            <a:ext cx="4754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F4E3D"/>
                </a:solidFill>
                <a:latin typeface="Calibri"/>
              </a:rPr>
              <a:t>depois:  AO_MESMO_TEMPO + bloco indentado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10972800" cy="1280160"/>
          </a:xfrm>
          <a:prstGeom prst="roundRect">
            <a:avLst>
              <a:gd name="adj" fmla="val 3000"/>
            </a:avLst>
          </a:prstGeom>
          <a:solidFill>
            <a:srgbClr val="0F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84648"/>
            <a:ext cx="106070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MISTURAR ovo, sal EM tigela COM garfo    // sem parênteses nem ponto-e-vírgula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ESTE é MISTURA01                          // nomeia o resultado da linha anterior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AO_MESMO_TEMPO                            // dois passos ao mesmo tempo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ADICIONAR oleo EM frigideira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AGUARDAR 1 MINUTOS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Como funciona</a:t>
            </a:r>
          </a:p>
          <a:p>
            <a:r>
              <a:rPr sz="1300">
                <a:solidFill>
                  <a:srgbClr val="E8F3EC"/>
                </a:solidFill>
                <a:latin typeface="Calibri"/>
              </a:rPr>
              <a:t>arquivo .recipe → AST + relatório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6607" y="27432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3D"/>
                </a:solidFill>
                <a:latin typeface="Calibri"/>
              </a:rPr>
              <a:t>Lexer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texto → tokens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33775" y="3291840"/>
            <a:ext cx="237744" cy="274320"/>
          </a:xfrm>
          <a:prstGeom prst="rightArrow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89807" y="27432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3D"/>
                </a:solidFill>
                <a:latin typeface="Calibri"/>
              </a:rPr>
              <a:t>Parser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tokens → AST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91840"/>
            <a:ext cx="237744" cy="274320"/>
          </a:xfrm>
          <a:prstGeom prst="rightArrow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27432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3D"/>
                </a:solidFill>
                <a:latin typeface="Calibri"/>
              </a:rPr>
              <a:t>Printer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AST → árvore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0175" y="3291840"/>
            <a:ext cx="237744" cy="274320"/>
          </a:xfrm>
          <a:prstGeom prst="rightArrow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76207" y="274320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4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4E3D"/>
                </a:solidFill>
                <a:latin typeface="Calibri"/>
              </a:rPr>
              <a:t>Validador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666666"/>
                </a:solidFill>
                <a:latin typeface="Calibri"/>
              </a:rPr>
              <a:t>AST → avisos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Entrada: arquivo .recipe em texto puro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Saída: AST impressa + lista de avisos (validação estática)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C2C2C"/>
                </a:solidFill>
                <a:latin typeface="Calibri"/>
              </a:rPr>
              <a:t>Sem execução culinária: só análise da AST.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Validação estática</a:t>
            </a:r>
          </a:p>
          <a:p>
            <a:r>
              <a:rPr sz="1300">
                <a:solidFill>
                  <a:srgbClr val="E8F3EC"/>
                </a:solidFill>
                <a:latin typeface="Calibri"/>
              </a:rPr>
              <a:t>5 tipos de aviso disparam sobre a 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UNDECLARED_INGREDIENT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371600"/>
            <a:ext cx="8412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usa ingrediente que não foi declarado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C4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UNDECLARED_UTENSIL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8412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referencia utensílio não declarado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E39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OVERUSE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8412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soma dos USANDO excede o estoque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4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E39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UTENSIL_CONFLICT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40480"/>
            <a:ext cx="8412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dois ramos paralelos usam o mesmo utensílio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E39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UNRESOLVED_SUBRECIPE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663440"/>
            <a:ext cx="8412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C2C2C"/>
                </a:solidFill>
                <a:latin typeface="Calibri"/>
              </a:rPr>
              <a:t>sub-receita declarada e nunca usada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Exemplo</a:t>
            </a:r>
          </a:p>
          <a:p>
            <a:r>
              <a:rPr sz="1300">
                <a:solidFill>
                  <a:srgbClr val="E8F3EC"/>
                </a:solidFill>
                <a:latin typeface="Calibri"/>
              </a:rPr>
              <a:t>Omelete: código-fonte e saída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760720" cy="5212080"/>
          </a:xfrm>
          <a:prstGeom prst="roundRect">
            <a:avLst>
              <a:gd name="adj" fmla="val 3000"/>
            </a:avLst>
          </a:prstGeom>
          <a:solidFill>
            <a:srgbClr val="0F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539496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RECEITA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NOME: "OmeleteComQueijo"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PORCOES: 1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INGREDIENTES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2 unidade ovo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20 g sal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1 colher oleo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1 unidade "RecheioDeQueijo"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UTENSILIOS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1 frigideira · 1 tigela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METODOS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MISTURAR ovo, sal EM tigela COM garfo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ESTE é MISTURA01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AO_MESMO_TEMPO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  ADICIONAR oleo EM frigideira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  AGUARDAR 1 MINUTOS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ASSAR MISTURA01 EM frigideira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  A FOGO_MEDIO ATE FIRMAR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5212080"/>
          </a:xfrm>
          <a:prstGeom prst="roundRect">
            <a:avLst>
              <a:gd name="adj" fmla="val 3000"/>
            </a:avLst>
          </a:prstGeom>
          <a:solidFill>
            <a:srgbClr val="0F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98448"/>
            <a:ext cx="493776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PROGRAMA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RECEITA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NOME = "OmeleteComQueijo"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PORCOES = 1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INGREDIENTES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2 unidade ovo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20 g sal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1 unidade &lt;sub&gt; RecheioDeQueijo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METODOS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MISTURAR ovo, sal EM tigela COM garfo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ESTE é MISTURA01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AO_MESMO_TEMPO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ramo 1: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  ADICIONAR oleo EM frigideira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ramo 2: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  AGUARDAR 1 MINUTOS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ASSAR MISTURA01 EM frigideira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               A FOGO_MEDIO ATE FIRMAR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6E6E6"/>
                </a:solidFill>
                <a:latin typeface="Consolas"/>
              </a:rPr>
              <a:t>OK — Nenhum aviso.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Exemplo com aviso</a:t>
            </a:r>
          </a:p>
          <a:p>
            <a:r>
              <a:rPr sz="1300">
                <a:solidFill>
                  <a:srgbClr val="E8F3EC"/>
                </a:solidFill>
                <a:latin typeface="Calibri"/>
              </a:rPr>
              <a:t>OVERUSE e UTENSIL_CONFLICT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39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OVERUSE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0F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51206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INGREDIENTES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20 g sal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METODOS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ADICIONAR sal USANDO 50 g EM tigela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54864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E39E2D"/>
                </a:solidFill>
                <a:latin typeface="Calibri"/>
              </a:rPr>
              <a:t>[AVISO] OVERUSE:
  sal: uso total 50 g excede estoque 20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E39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UTENSIL_CONFLICT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0F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92808"/>
            <a:ext cx="512064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AO_MESMO_TEMPO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ADICIONAR ovo EM frigideira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6"/>
                </a:solidFill>
                <a:latin typeface="Consolas"/>
              </a:rPr>
              <a:t>    ADICIONAR oleo EM frigideira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54864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E39E2D"/>
                </a:solidFill>
                <a:latin typeface="Calibri"/>
              </a:rPr>
              <a:t>[AVISO] UTENSIL_CONFLICT:
  frigideira usada em ramos paralelos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277295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Parser próprio, não macros</a:t>
            </a:r>
          </a:p>
          <a:p>
            <a:r>
              <a:rPr sz="1300">
                <a:solidFill>
                  <a:srgbClr val="E8F3EC"/>
                </a:solidFill>
                <a:latin typeface="Calibri"/>
              </a:rPr>
              <a:t>Por que não usamos define-syntax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•  RECIP-E é um arquivo externo (.recipe), não sintaxe embutida em Scheme.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•  Palavras como "ESTE é" e "A 180 GRAUS" não sobrevivem ao leitor de S-expressions.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•  Os avisos precisam apontar linha do erro — macros perdem essa informação.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2C2C"/>
                </a:solidFill>
                <a:latin typeface="Calibri"/>
              </a:rPr>
              <a:t>•  Usamos funções recursivas, closures (para o cursor de tokens) e listas com tag para a 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RECIP-E · MC346 · UNICAMP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8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87A3D"/>
                </a:solidFill>
                <a:latin typeface="Calibri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F3EC"/>
                </a:solidFill>
                <a:latin typeface="Consolas"/>
              </a:rPr>
              <a:t>github.com/joao-victor-s/RestaurantedoChefeRemy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